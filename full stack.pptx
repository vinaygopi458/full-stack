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59" d="100"/>
          <a:sy n="59" d="100"/>
        </p:scale>
        <p:origin x="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02-02-2026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360002" y="5795378"/>
            <a:ext cx="15784162" cy="707886"/>
          </a:xfrm>
          <a:prstGeom prst="rect">
            <a:avLst/>
          </a:prstGeom>
          <a:noFill/>
        </p:spPr>
        <p:txBody>
          <a:bodyPr wrap="square" rtlCol="0">
            <a:spAutoFit/>
          </a:bodyPr>
          <a:lstStyle/>
          <a:p>
            <a:pPr algn="ctr"/>
            <a:r>
              <a:rPr lang="en-US" sz="4000" b="1" dirty="0">
                <a:solidFill>
                  <a:srgbClr val="0070C0"/>
                </a:solidFill>
                <a:latin typeface="Times New Roman" panose="02020603050405020304" pitchFamily="18" charset="0"/>
                <a:cs typeface="Times New Roman" panose="02020603050405020304" pitchFamily="18" charset="0"/>
              </a:rPr>
              <a:t>Dynamic Online Examination &amp; Result Processing System</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A.Naga</a:t>
            </a:r>
            <a:r>
              <a:rPr lang="en-US" sz="3000" dirty="0">
                <a:latin typeface="Cambria" panose="02040503050406030204" pitchFamily="18" charset="0"/>
                <a:ea typeface="Cambria" panose="02040503050406030204" pitchFamily="18" charset="0"/>
              </a:rPr>
              <a:t> Vinay Gopi – VTU25557 – 23UECS0648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981200" y="2247899"/>
            <a:ext cx="14805160" cy="13018949"/>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US" sz="2800" dirty="0"/>
              <a:t>Manual exams are time-consuming, error-prone, and delay result processing, creating a need for an automated online examination system</a:t>
            </a:r>
            <a:r>
              <a:rPr lang="en-IN" sz="2800" dirty="0"/>
              <a:t>.</a:t>
            </a:r>
          </a:p>
          <a:p>
            <a:endParaRPr lang="en-US" sz="2800" dirty="0"/>
          </a:p>
          <a:p>
            <a:r>
              <a:rPr lang="en-US" sz="2800" b="1" dirty="0">
                <a:solidFill>
                  <a:srgbClr val="0033CC"/>
                </a:solidFill>
              </a:rPr>
              <a:t>Why this project is important:</a:t>
            </a:r>
          </a:p>
          <a:p>
            <a:endParaRPr lang="en-US" sz="2800" b="1" dirty="0">
              <a:solidFill>
                <a:srgbClr val="0033CC"/>
              </a:solidFill>
            </a:endParaRPr>
          </a:p>
          <a:p>
            <a:r>
              <a:rPr lang="en-US" sz="2800" dirty="0"/>
              <a:t>To reduce evaluation errors, save time, and provide instant results for students and teachers.</a:t>
            </a:r>
          </a:p>
          <a:p>
            <a:endParaRPr lang="en-US" sz="2800" dirty="0"/>
          </a:p>
          <a:p>
            <a:r>
              <a:rPr lang="en-US" sz="2800" b="1" dirty="0">
                <a:solidFill>
                  <a:srgbClr val="0033CC"/>
                </a:solidFill>
              </a:rPr>
              <a:t>Real-world relevance:</a:t>
            </a:r>
          </a:p>
          <a:p>
            <a:endParaRPr lang="en-US" sz="2800" dirty="0"/>
          </a:p>
          <a:p>
            <a:r>
              <a:rPr lang="en-US" sz="2800" dirty="0"/>
              <a:t>Used in schools, colleges, competitive exams, and online learning platforms to streamline assessments efficiently.</a:t>
            </a:r>
          </a:p>
          <a:p>
            <a:endParaRPr lang="en-US" sz="2800" dirty="0"/>
          </a:p>
          <a:p>
            <a:r>
              <a:rPr lang="en-US" sz="2800" b="1" dirty="0">
                <a:solidFill>
                  <a:srgbClr val="0033CC"/>
                </a:solidFill>
              </a:rPr>
              <a:t>Brief overview of the system:</a:t>
            </a:r>
          </a:p>
          <a:p>
            <a:endParaRPr lang="en-US" sz="2800" dirty="0"/>
          </a:p>
          <a:p>
            <a:r>
              <a:rPr lang="en-US" sz="2800" dirty="0"/>
              <a:t>A dynamic web-based system where students can register, take exams, and view results instantly, with data stored securely in a database.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86000" y="1714500"/>
            <a:ext cx="15006125" cy="10864513"/>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In many educational institutions and training platforms, quizzes are conducted manually or using basic systems that lack automation. This creates difficulties in managing users, organizing quizzes, evaluating answers, and generating results efficiently. Manual evaluation consumes time and may lead to calculation errors. Generating certificates separately also increases administrative workload. There is a need for a secure, reliable, and fully automated quiz system that can manage users, conduct quizzes, calculate scores instantly, and generate certificates automatically. Such a system improves accuracy, saves time, and enhances overall performance.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4401205"/>
          </a:xfrm>
          <a:prstGeom prst="rect">
            <a:avLst/>
          </a:prstGeom>
          <a:noFill/>
        </p:spPr>
        <p:txBody>
          <a:bodyPr wrap="square" rtlCol="0">
            <a:spAutoFit/>
          </a:bodyPr>
          <a:lstStyle/>
          <a:p>
            <a:pPr algn="just"/>
            <a:r>
              <a:rPr lang="en-US" sz="2800" dirty="0"/>
              <a:t>1.To develop a dynamic online examination system that replaces manual evaluation.</a:t>
            </a:r>
          </a:p>
          <a:p>
            <a:pPr algn="just"/>
            <a:r>
              <a:rPr lang="en-US" sz="2800" dirty="0"/>
              <a:t>2.To allow students to register, login, and take exams online securely.</a:t>
            </a:r>
          </a:p>
          <a:p>
            <a:pPr algn="just"/>
            <a:r>
              <a:rPr lang="en-US" sz="2800" dirty="0"/>
              <a:t>3.To store questions and results in a database for easy management and retrieval.</a:t>
            </a:r>
          </a:p>
          <a:p>
            <a:pPr algn="just"/>
            <a:r>
              <a:rPr lang="en-US" sz="2800" dirty="0"/>
              <a:t>4.To calculate scores and percentages automatically immediately after the exam.</a:t>
            </a:r>
          </a:p>
          <a:p>
            <a:pPr algn="just"/>
            <a:r>
              <a:rPr lang="en-US" sz="2800" dirty="0"/>
              <a:t>5.To support multiple subjects and multiple sets of questions for different exams.</a:t>
            </a:r>
          </a:p>
          <a:p>
            <a:pPr algn="just"/>
            <a:r>
              <a:rPr lang="en-US" sz="2800" dirty="0"/>
              <a:t>6.To provide a user-friendly and responsive interface for students.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982351" y="1910944"/>
            <a:ext cx="16292949" cy="6986528"/>
          </a:xfrm>
          <a:prstGeom prst="rect">
            <a:avLst/>
          </a:prstGeom>
          <a:noFill/>
        </p:spPr>
        <p:txBody>
          <a:bodyPr wrap="square" rtlCol="0">
            <a:spAutoFit/>
          </a:bodyPr>
          <a:lstStyle/>
          <a:p>
            <a:r>
              <a:rPr lang="en-US" sz="2800" dirty="0"/>
              <a:t>1.A web-based dynamic online examination system using HTML, CSS, JavaScript (ES6), Node.js, and MySQL.</a:t>
            </a:r>
          </a:p>
          <a:p>
            <a:r>
              <a:rPr lang="en-US" sz="2800" dirty="0"/>
              <a:t>2.Allows students to register, login, select subjects, take exams, and view results instantly.</a:t>
            </a:r>
          </a:p>
          <a:p>
            <a:r>
              <a:rPr lang="en-US" sz="2800" dirty="0"/>
              <a:t>3.Stores all questions, subjects, students, and results securely in a MySQL database.</a:t>
            </a:r>
          </a:p>
          <a:p>
            <a:r>
              <a:rPr lang="en-US" sz="2800" dirty="0"/>
              <a:t>4.Calculates scores and percentages automatically immediately after exam submission.</a:t>
            </a:r>
          </a:p>
          <a:p>
            <a:r>
              <a:rPr lang="en-US" sz="2800" dirty="0"/>
              <a:t>5.Provides a secure session-based authentication system to prevent unauthorized access.</a:t>
            </a:r>
          </a:p>
          <a:p>
            <a:r>
              <a:rPr lang="en-US" sz="2800" dirty="0"/>
              <a:t>6.Supports multiple subjects and generates random question sets for each individual exam.</a:t>
            </a:r>
          </a:p>
          <a:p>
            <a:r>
              <a:rPr lang="en-US" sz="2800" dirty="0"/>
              <a:t>7.User interface is responsive and centered, providing a clear and accessible display of questions and results.</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813628F3-6036-A134-DA81-006FBD538C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1173897"/>
            <a:ext cx="14630400" cy="78558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CE35CDA1-C97B-F62E-E5AE-91925933D0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0" y="1333500"/>
            <a:ext cx="10287000" cy="8001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377044" y="1938338"/>
            <a:ext cx="15082325" cy="11295400"/>
          </a:xfrm>
          <a:prstGeom prst="rect">
            <a:avLst/>
          </a:prstGeom>
          <a:noFill/>
        </p:spPr>
        <p:txBody>
          <a:bodyPr wrap="square" rtlCol="0">
            <a:spAutoFit/>
          </a:bodyPr>
          <a:lstStyle/>
          <a:p>
            <a:r>
              <a:rPr lang="en-IN" sz="2800" b="1" dirty="0"/>
              <a:t>Front-End:</a:t>
            </a:r>
          </a:p>
          <a:p>
            <a:pPr lvl="1"/>
            <a:r>
              <a:rPr lang="en-IN" sz="2800" dirty="0"/>
              <a:t>HTML5 &amp; CSS3 ➔ For designing the web pages and styling.</a:t>
            </a:r>
          </a:p>
          <a:p>
            <a:pPr lvl="1"/>
            <a:r>
              <a:rPr lang="en-IN" sz="2800" dirty="0"/>
              <a:t>JavaScript (ES6) ➔ For interactive features like question navigation and form validations.</a:t>
            </a:r>
          </a:p>
          <a:p>
            <a:r>
              <a:rPr lang="en-IN" sz="2800" b="1" dirty="0"/>
              <a:t>Back-End:</a:t>
            </a:r>
          </a:p>
          <a:p>
            <a:pPr lvl="1"/>
            <a:r>
              <a:rPr lang="en-IN" sz="2800" dirty="0"/>
              <a:t>Node.js &amp; Express.js ➔ Handles server-side logic, authentication, exam processing, and result calculation.</a:t>
            </a:r>
          </a:p>
          <a:p>
            <a:r>
              <a:rPr lang="en-IN" sz="2800" b="1" dirty="0"/>
              <a:t>Database:</a:t>
            </a:r>
          </a:p>
          <a:p>
            <a:pPr lvl="1"/>
            <a:r>
              <a:rPr lang="en-IN" sz="2800" dirty="0"/>
              <a:t>MySQL ➔ Stores users, subjects, questions, and exam results.</a:t>
            </a:r>
          </a:p>
          <a:p>
            <a:r>
              <a:rPr lang="en-IN" sz="2800" b="1" dirty="0"/>
              <a:t>Server / Environment:</a:t>
            </a:r>
          </a:p>
          <a:p>
            <a:pPr lvl="1"/>
            <a:r>
              <a:rPr lang="en-IN" sz="2800" dirty="0"/>
              <a:t>Node.js Runtime ➔ Local server environment to run JavaScript on the backend.</a:t>
            </a:r>
          </a:p>
          <a:p>
            <a:pPr lvl="1"/>
            <a:r>
              <a:rPr lang="en-IN" sz="2800" dirty="0"/>
              <a:t>local MySQL Server ➔ To manage and host the database.</a:t>
            </a:r>
          </a:p>
          <a:p>
            <a:r>
              <a:rPr lang="en-IN" sz="2800" b="1" dirty="0"/>
              <a:t>Development Tools:</a:t>
            </a:r>
          </a:p>
          <a:p>
            <a:pPr lvl="1"/>
            <a:r>
              <a:rPr lang="en-IN" sz="2800" dirty="0"/>
              <a:t>VS Code ➔ Editor for writing HTML, CSS, JS, and Node.js backend code.</a:t>
            </a:r>
          </a:p>
          <a:p>
            <a:pPr lvl="1"/>
            <a:r>
              <a:rPr lang="en-IN" sz="2800" dirty="0"/>
              <a:t>Browser (Chrome/Edge/Firefox) ➔ To access and test the application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9571851"/>
          </a:xfrm>
          <a:prstGeom prst="rect">
            <a:avLst/>
          </a:prstGeom>
          <a:noFill/>
        </p:spPr>
        <p:txBody>
          <a:bodyPr wrap="square" rtlCol="0">
            <a:spAutoFit/>
          </a:bodyPr>
          <a:lstStyle/>
          <a:p>
            <a:endParaRPr lang="en-IN" sz="2800" b="1" dirty="0"/>
          </a:p>
          <a:p>
            <a:r>
              <a:rPr lang="en-US" sz="2800" dirty="0">
                <a:solidFill>
                  <a:srgbClr val="0070C0"/>
                </a:solidFill>
              </a:rPr>
              <a:t>1.User Registration &amp; Login</a:t>
            </a:r>
          </a:p>
          <a:p>
            <a:r>
              <a:rPr lang="en-US" sz="2800" dirty="0"/>
              <a:t>-Students can register with their details and login securely using sessions.</a:t>
            </a:r>
          </a:p>
          <a:p>
            <a:r>
              <a:rPr lang="en-US" sz="2800" dirty="0"/>
              <a:t>-Passwords are stored using encryption (hashed) for security.</a:t>
            </a:r>
          </a:p>
          <a:p>
            <a:r>
              <a:rPr lang="en-US" sz="2800" dirty="0">
                <a:solidFill>
                  <a:srgbClr val="0070C0"/>
                </a:solidFill>
              </a:rPr>
              <a:t>2.Dashboard</a:t>
            </a:r>
          </a:p>
          <a:p>
            <a:r>
              <a:rPr lang="en-US" sz="2800" dirty="0"/>
              <a:t>-After login, students see a list of subjects available for exams.</a:t>
            </a:r>
          </a:p>
          <a:p>
            <a:r>
              <a:rPr lang="en-US" sz="2800" dirty="0"/>
              <a:t>-Navigation to exams and results is provided.</a:t>
            </a:r>
          </a:p>
          <a:p>
            <a:r>
              <a:rPr lang="en-US" sz="2800" dirty="0">
                <a:solidFill>
                  <a:srgbClr val="0070C0"/>
                </a:solidFill>
              </a:rPr>
              <a:t>3.Exam Module</a:t>
            </a:r>
          </a:p>
          <a:p>
            <a:r>
              <a:rPr lang="en-US" sz="2800" dirty="0"/>
              <a:t>-Students select a subject and take the exam.</a:t>
            </a:r>
          </a:p>
          <a:p>
            <a:r>
              <a:rPr lang="en-US" sz="2800" dirty="0"/>
              <a:t>-Questions are fetched dynamically from the database.</a:t>
            </a:r>
          </a:p>
          <a:p>
            <a:r>
              <a:rPr lang="en-US" sz="2800" dirty="0"/>
              <a:t>-Answers are submitted and stored for evaluation.</a:t>
            </a:r>
          </a:p>
          <a:p>
            <a:r>
              <a:rPr lang="en-US" sz="2800" dirty="0">
                <a:solidFill>
                  <a:srgbClr val="0070C0"/>
                </a:solidFill>
              </a:rPr>
              <a:t>4.Result Module</a:t>
            </a:r>
          </a:p>
          <a:p>
            <a:r>
              <a:rPr lang="en-US" sz="2800" dirty="0"/>
              <a:t>-Server calculates score and percentage automatically.</a:t>
            </a:r>
          </a:p>
          <a:p>
            <a:r>
              <a:rPr lang="en-US" sz="2800" dirty="0"/>
              <a:t>-Results are displayed instantly and stored in the results table.</a:t>
            </a:r>
          </a:p>
          <a:p>
            <a:r>
              <a:rPr lang="en-US" sz="2800" dirty="0">
                <a:solidFill>
                  <a:srgbClr val="0070C0"/>
                </a:solidFill>
              </a:rPr>
              <a:t>5.Database Module</a:t>
            </a:r>
          </a:p>
          <a:p>
            <a:r>
              <a:rPr lang="en-US" sz="2800" dirty="0"/>
              <a:t>-Manages users, subjects, questions, and results.</a:t>
            </a:r>
          </a:p>
          <a:p>
            <a:r>
              <a:rPr lang="en-US" sz="2800" dirty="0"/>
              <a:t>-Ensures data integrity and supports multiple subjects and exams.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Registration &amp; Login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928325D-2136-9782-AA4E-0732EC6748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1200" y="2247900"/>
            <a:ext cx="6934200" cy="5305414"/>
          </a:xfrm>
          <a:prstGeom prst="rect">
            <a:avLst/>
          </a:prstGeom>
        </p:spPr>
      </p:pic>
      <p:pic>
        <p:nvPicPr>
          <p:cNvPr id="5" name="Picture 4">
            <a:extLst>
              <a:ext uri="{FF2B5EF4-FFF2-40B4-BE49-F238E27FC236}">
                <a16:creationId xmlns:a16="http://schemas.microsoft.com/office/drawing/2014/main" id="{5BF1F637-8BA8-E2FF-4B5B-4E5257F6E7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99" y="2247900"/>
            <a:ext cx="7696201" cy="530541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err="1">
                <a:solidFill>
                  <a:srgbClr val="0033CC"/>
                </a:solidFill>
              </a:rPr>
              <a:t>DashBoard</a:t>
            </a:r>
            <a:r>
              <a:rPr lang="en-US" sz="2800" dirty="0">
                <a:solidFill>
                  <a:srgbClr val="0033CC"/>
                </a:solidFill>
              </a:rPr>
              <a:t>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2370E0E-80C4-9259-C65F-0F935F97B2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400" y="2247901"/>
            <a:ext cx="11963400" cy="612475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040705" y="1676870"/>
            <a:ext cx="15082325" cy="523220"/>
          </a:xfrm>
          <a:prstGeom prst="rect">
            <a:avLst/>
          </a:prstGeom>
          <a:noFill/>
        </p:spPr>
        <p:txBody>
          <a:bodyPr wrap="square" rtlCol="0">
            <a:spAutoFit/>
          </a:bodyPr>
          <a:lstStyle/>
          <a:p>
            <a:r>
              <a:rPr lang="en-IN" sz="2800" dirty="0">
                <a:solidFill>
                  <a:srgbClr val="0070C0"/>
                </a:solidFill>
              </a:rPr>
              <a:t>Result page</a:t>
            </a:r>
            <a:r>
              <a:rPr lang="en-IN" sz="2800" dirty="0"/>
              <a:t>:</a:t>
            </a:r>
          </a:p>
        </p:txBody>
      </p:sp>
      <p:pic>
        <p:nvPicPr>
          <p:cNvPr id="3" name="Picture 2">
            <a:extLst>
              <a:ext uri="{FF2B5EF4-FFF2-40B4-BE49-F238E27FC236}">
                <a16:creationId xmlns:a16="http://schemas.microsoft.com/office/drawing/2014/main" id="{DE3D754B-C23C-A3D7-7052-A76B868F32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0705" y="2233205"/>
            <a:ext cx="13351695" cy="6520773"/>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0" y="3298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10433625"/>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b="1" dirty="0"/>
              <a:t>-Automated Evaluation:</a:t>
            </a:r>
            <a:r>
              <a:rPr lang="en-US" sz="2800" dirty="0"/>
              <a:t> Instant scoring and result calculation, saving manual effort.</a:t>
            </a:r>
          </a:p>
          <a:p>
            <a:r>
              <a:rPr lang="en-US" sz="2800" b="1" dirty="0"/>
              <a:t>-Randomized Questions:</a:t>
            </a:r>
            <a:r>
              <a:rPr lang="en-US" sz="2800" dirty="0"/>
              <a:t> Each student gets a unique, randomized question set to prevent cheating.</a:t>
            </a:r>
          </a:p>
          <a:p>
            <a:r>
              <a:rPr lang="en-US" sz="2800" b="1" dirty="0"/>
              <a:t>-Role-Based Access:</a:t>
            </a:r>
            <a:r>
              <a:rPr lang="en-US" sz="2800" dirty="0"/>
              <a:t> Separate dashboards and functionalities for students and admins.</a:t>
            </a:r>
          </a:p>
          <a:p>
            <a:r>
              <a:rPr lang="en-US" sz="2800" b="1" dirty="0"/>
              <a:t>-Subject Flexibility:</a:t>
            </a:r>
            <a:r>
              <a:rPr lang="en-US" sz="2800" dirty="0"/>
              <a:t> Supports dynamic exams categorized across multiple subjects.</a:t>
            </a:r>
          </a:p>
          <a:p>
            <a:r>
              <a:rPr lang="en-US" sz="2800" b="1" dirty="0"/>
              <a:t>-Real-Time Leaderboard:</a:t>
            </a:r>
            <a:r>
              <a:rPr lang="en-US" sz="2800" dirty="0"/>
              <a:t> Tracks and ranks top students to encourage healthy competition.</a:t>
            </a:r>
          </a:p>
          <a:p>
            <a:pPr marL="457200" indent="-457200">
              <a:buFontTx/>
              <a:buChar char="-"/>
            </a:pPr>
            <a:endParaRPr lang="en-US" sz="2800" dirty="0"/>
          </a:p>
          <a:p>
            <a:r>
              <a:rPr lang="en-US" sz="2800" b="1" dirty="0">
                <a:solidFill>
                  <a:srgbClr val="0033CC"/>
                </a:solidFill>
              </a:rPr>
              <a:t>Limitations:</a:t>
            </a:r>
          </a:p>
          <a:p>
            <a:r>
              <a:rPr lang="en-US" sz="2800" b="1" dirty="0"/>
              <a:t>-No Proctoring Features:</a:t>
            </a:r>
            <a:r>
              <a:rPr lang="en-US" sz="2800" dirty="0"/>
              <a:t> Lacks browser lockdown or webcam monitoring during exams.</a:t>
            </a:r>
          </a:p>
          <a:p>
            <a:r>
              <a:rPr lang="en-US" sz="2800" b="1" dirty="0"/>
              <a:t>-Limited Question Types:</a:t>
            </a:r>
            <a:r>
              <a:rPr lang="en-US" sz="2800" dirty="0"/>
              <a:t> Currently only supports multiple-choice questions (MCQs).</a:t>
            </a:r>
          </a:p>
          <a:p>
            <a:r>
              <a:rPr lang="en-US" sz="2800" b="1" dirty="0"/>
              <a:t>-No Auto-Save:</a:t>
            </a:r>
            <a:r>
              <a:rPr lang="en-US" sz="2800" dirty="0"/>
              <a:t> Exam progress might be lost if the internet disconnects or browser crashes before submission.</a:t>
            </a:r>
          </a:p>
          <a:p>
            <a:r>
              <a:rPr lang="en-US" sz="2800" b="1" dirty="0"/>
              <a:t>-Basic Security:</a:t>
            </a:r>
            <a:r>
              <a:rPr lang="en-US" sz="2800" dirty="0"/>
              <a:t> Passwords and sensitive data could use advanced encryption (like hashing) for better security.</a:t>
            </a:r>
          </a:p>
          <a:p>
            <a:r>
              <a:rPr lang="en-US" sz="2800" b="1" dirty="0"/>
              <a:t>-Database Scalability:</a:t>
            </a:r>
            <a:r>
              <a:rPr lang="en-US" sz="2800" dirty="0"/>
              <a:t> Randomizing questions becomes slower as the database size grows significantly.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TotalTime>
  <Words>1076</Words>
  <Application>Microsoft Office PowerPoint</Application>
  <PresentationFormat>Custom</PresentationFormat>
  <Paragraphs>304</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Gotham</vt:lpstr>
      <vt:lpstr>Bookman Old Style</vt:lpstr>
      <vt:lpstr>Arial</vt:lpstr>
      <vt:lpstr>Calibri</vt:lpstr>
      <vt:lpstr>Gotham Bold Italics</vt:lpstr>
      <vt:lpstr>Times New Roman</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addankinagavinaygopi151@gmail.com</cp:lastModifiedBy>
  <cp:revision>14</cp:revision>
  <dcterms:created xsi:type="dcterms:W3CDTF">2006-08-16T00:00:00Z</dcterms:created>
  <dcterms:modified xsi:type="dcterms:W3CDTF">2026-03-23T03:42:01Z</dcterms:modified>
  <dc:identifier>DAHCaYqJ9OU</dc:identifier>
</cp:coreProperties>
</file>